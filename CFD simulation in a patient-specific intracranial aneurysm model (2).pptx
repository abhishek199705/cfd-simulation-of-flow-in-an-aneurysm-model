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Roboto"/>
      <p:regular r:id="rId22"/>
      <p:bold r:id="rId23"/>
      <p:italic r:id="rId24"/>
      <p:boldItalic r:id="rId25"/>
    </p:embeddedFont>
    <p:embeddedFont>
      <p:font typeface="Merriweather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8E247CD-3601-404C-B5CC-A70B6CCB1DF1}">
  <a:tblStyle styleId="{08E247CD-3601-404C-B5CC-A70B6CCB1DF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oboto-regular.fntdata"/><Relationship Id="rId21" Type="http://schemas.openxmlformats.org/officeDocument/2006/relationships/slide" Target="slides/slide15.xml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erriweather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Merriweather-italic.fntdata"/><Relationship Id="rId27" Type="http://schemas.openxmlformats.org/officeDocument/2006/relationships/font" Target="fonts/Merriweather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erriweather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af44f8ee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af44f8ee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af44f8eec0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af44f8eec0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af44f8eec0_0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af44f8eec0_0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af44f8eec0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af44f8eec0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27dbe031f9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27dbe031f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27dbe031f9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27dbe031f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af44f8eec0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af44f8eec0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27dbe031f9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27dbe031f9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27dbe031f9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27dbe031f9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282c22f02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282c22f0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af44f8eec0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af44f8eec0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af44f8eec0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af44f8eec0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282c22f025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282c22f025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282c22f025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282c22f025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9.png"/><Relationship Id="rId6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Relationship Id="rId7" Type="http://schemas.openxmlformats.org/officeDocument/2006/relationships/image" Target="../media/image4.png"/><Relationship Id="rId8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Relationship Id="rId5" Type="http://schemas.openxmlformats.org/officeDocument/2006/relationships/image" Target="../media/image18.png"/><Relationship Id="rId6" Type="http://schemas.openxmlformats.org/officeDocument/2006/relationships/image" Target="../media/image17.png"/><Relationship Id="rId7" Type="http://schemas.openxmlformats.org/officeDocument/2006/relationships/image" Target="../media/image20.png"/><Relationship Id="rId8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180"/>
              <a:t>CFD simulation in a patient-specific intracranial aneurysm model</a:t>
            </a:r>
            <a:endParaRPr sz="418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2080"/>
              <a:t>Abhishek Joel George</a:t>
            </a:r>
            <a:endParaRPr sz="208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2080"/>
              <a:t>250900</a:t>
            </a:r>
            <a:endParaRPr sz="2080"/>
          </a:p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/>
              <a:t>Scope</a:t>
            </a:r>
            <a:endParaRPr sz="3020"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Merriweather"/>
              <a:buChar char="❏"/>
            </a:pPr>
            <a:r>
              <a:rPr lang="en" sz="1600">
                <a:solidFill>
                  <a:srgbClr val="222222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Hemodynamic analysis of vascular systems to understand and diagnose medical conditions.</a:t>
            </a:r>
            <a:endParaRPr sz="1600">
              <a:solidFill>
                <a:srgbClr val="222222"/>
              </a:solidFill>
              <a:highlight>
                <a:srgbClr val="FFFFFF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22222"/>
              </a:solidFill>
              <a:highlight>
                <a:srgbClr val="FFFFFF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Merriweather"/>
              <a:buChar char="❏"/>
            </a:pPr>
            <a:r>
              <a:rPr lang="en" sz="1600">
                <a:solidFill>
                  <a:srgbClr val="222222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CFD simulations to investigate the flow structure, recirculation flow and wall shear stress (WSS).</a:t>
            </a:r>
            <a:endParaRPr sz="1600">
              <a:solidFill>
                <a:srgbClr val="222222"/>
              </a:solidFill>
              <a:highlight>
                <a:srgbClr val="FFFFFF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22222"/>
              </a:solidFill>
              <a:highlight>
                <a:srgbClr val="FFFFFF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Merriweather"/>
              <a:buChar char="❏"/>
            </a:pPr>
            <a:r>
              <a:rPr lang="en" sz="1600">
                <a:solidFill>
                  <a:srgbClr val="222222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Predict the rupture of the aneurysm.</a:t>
            </a:r>
            <a:endParaRPr sz="1600">
              <a:solidFill>
                <a:srgbClr val="222222"/>
              </a:solidFill>
              <a:highlight>
                <a:srgbClr val="FFFFFF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22222"/>
              </a:solidFill>
              <a:highlight>
                <a:srgbClr val="FFFFFF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Merriweather"/>
              <a:buChar char="❏"/>
            </a:pPr>
            <a:r>
              <a:rPr lang="en" sz="1600">
                <a:solidFill>
                  <a:srgbClr val="222222"/>
                </a:solidFill>
                <a:highlight>
                  <a:srgbClr val="FFFFFF"/>
                </a:highlight>
                <a:latin typeface="Merriweather"/>
                <a:ea typeface="Merriweather"/>
                <a:cs typeface="Merriweather"/>
                <a:sym typeface="Merriweather"/>
              </a:rPr>
              <a:t>Compare the flow behavior and wall shear stress for flow velocities of 0.4 m/s and 0.8 m/s.</a:t>
            </a:r>
            <a:endParaRPr sz="1600">
              <a:solidFill>
                <a:srgbClr val="222222"/>
              </a:solidFill>
              <a:highlight>
                <a:srgbClr val="FFFFFF"/>
              </a:highlight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48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Geometry</a:t>
            </a:r>
            <a:endParaRPr/>
          </a:p>
        </p:txBody>
      </p:sp>
      <p:graphicFrame>
        <p:nvGraphicFramePr>
          <p:cNvPr id="69" name="Google Shape;69;p15"/>
          <p:cNvGraphicFramePr/>
          <p:nvPr/>
        </p:nvGraphicFramePr>
        <p:xfrm>
          <a:off x="4875700" y="112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{08E247CD-3601-404C-B5CC-A70B6CCB1DF1}</a:tableStyleId>
              </a:tblPr>
              <a:tblGrid>
                <a:gridCol w="2057025"/>
                <a:gridCol w="2057025"/>
              </a:tblGrid>
              <a:tr h="474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Approx length of the geometry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20mm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24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Approx length of the aneurysm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10mm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24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Approx dia of inlet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2mm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95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Approx dia of outlet 1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1.5mm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295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Approx dia of outlet 2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1.5 mm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15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Surface wrap base size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0.5mm</a:t>
                      </a:r>
                      <a:endParaRPr sz="1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1383025" y="4449325"/>
            <a:ext cx="18369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Fig. 1: Geometry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6186875" y="3341550"/>
            <a:ext cx="18369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Table 1: Dimensions</a:t>
            </a:r>
            <a:endParaRPr sz="900">
              <a:solidFill>
                <a:schemeClr val="dk2"/>
              </a:solidFill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9825" y="940550"/>
            <a:ext cx="3244300" cy="344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31375" y="352225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Mesh</a:t>
            </a:r>
            <a:endParaRPr/>
          </a:p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050" y="1015525"/>
            <a:ext cx="3571875" cy="3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/>
          <p:nvPr/>
        </p:nvSpPr>
        <p:spPr>
          <a:xfrm>
            <a:off x="3341800" y="2484975"/>
            <a:ext cx="446100" cy="531300"/>
          </a:xfrm>
          <a:prstGeom prst="rect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EA9999"/>
              </a:solidFill>
            </a:endParaRPr>
          </a:p>
        </p:txBody>
      </p:sp>
      <p:cxnSp>
        <p:nvCxnSpPr>
          <p:cNvPr id="82" name="Google Shape;82;p16"/>
          <p:cNvCxnSpPr/>
          <p:nvPr/>
        </p:nvCxnSpPr>
        <p:spPr>
          <a:xfrm>
            <a:off x="3787925" y="3075375"/>
            <a:ext cx="374100" cy="36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83" name="Google Shape;8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5994" y="3436275"/>
            <a:ext cx="1990532" cy="154652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/>
          <p:nvPr/>
        </p:nvSpPr>
        <p:spPr>
          <a:xfrm>
            <a:off x="1196525" y="4825825"/>
            <a:ext cx="1351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Fig. 2: Mesh</a:t>
            </a:r>
            <a:endParaRPr sz="900">
              <a:solidFill>
                <a:schemeClr val="dk2"/>
              </a:solidFill>
            </a:endParaRPr>
          </a:p>
        </p:txBody>
      </p:sp>
      <p:graphicFrame>
        <p:nvGraphicFramePr>
          <p:cNvPr id="85" name="Google Shape;85;p16"/>
          <p:cNvGraphicFramePr/>
          <p:nvPr/>
        </p:nvGraphicFramePr>
        <p:xfrm>
          <a:off x="5128138" y="1015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{08E247CD-3601-404C-B5CC-A70B6CCB1DF1}</a:tableStyleId>
              </a:tblPr>
              <a:tblGrid>
                <a:gridCol w="1821400"/>
                <a:gridCol w="1796225"/>
              </a:tblGrid>
              <a:tr h="302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Core Volume Mesher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Polyhedral Mesher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02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Surface mesher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Surface remesher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02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Boundary layer mesher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Prism layer mesher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6" name="Google Shape;86;p16"/>
          <p:cNvSpPr txBox="1"/>
          <p:nvPr/>
        </p:nvSpPr>
        <p:spPr>
          <a:xfrm>
            <a:off x="5834850" y="2176600"/>
            <a:ext cx="21192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Table 2: Unstructured Mesh details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</a:endParaRPr>
          </a:p>
        </p:txBody>
      </p:sp>
      <p:graphicFrame>
        <p:nvGraphicFramePr>
          <p:cNvPr id="87" name="Google Shape;87;p16"/>
          <p:cNvGraphicFramePr/>
          <p:nvPr/>
        </p:nvGraphicFramePr>
        <p:xfrm>
          <a:off x="6128600" y="2694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{08E247CD-3601-404C-B5CC-A70B6CCB1DF1}</a:tableStyleId>
              </a:tblPr>
              <a:tblGrid>
                <a:gridCol w="1470925"/>
                <a:gridCol w="1470925"/>
              </a:tblGrid>
              <a:tr h="34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Boundary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Type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4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Inlet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Velocity inlet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4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Outlet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Pressure outlet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4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Wall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 - slip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88" name="Google Shape;88;p16"/>
          <p:cNvSpPr txBox="1"/>
          <p:nvPr/>
        </p:nvSpPr>
        <p:spPr>
          <a:xfrm>
            <a:off x="6695800" y="4277525"/>
            <a:ext cx="21192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Table 3: Boundary conditions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217700" y="316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Models</a:t>
            </a:r>
            <a:endParaRPr/>
          </a:p>
        </p:txBody>
      </p:sp>
      <p:sp>
        <p:nvSpPr>
          <p:cNvPr id="94" name="Google Shape;9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2875" y="907675"/>
            <a:ext cx="3818175" cy="22923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 txBox="1"/>
          <p:nvPr/>
        </p:nvSpPr>
        <p:spPr>
          <a:xfrm>
            <a:off x="6033975" y="3167275"/>
            <a:ext cx="1896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Fig 3: Models</a:t>
            </a:r>
            <a:endParaRPr sz="900">
              <a:solidFill>
                <a:schemeClr val="dk2"/>
              </a:solidFill>
            </a:endParaRPr>
          </a:p>
        </p:txBody>
      </p:sp>
      <p:graphicFrame>
        <p:nvGraphicFramePr>
          <p:cNvPr id="97" name="Google Shape;97;p17"/>
          <p:cNvGraphicFramePr/>
          <p:nvPr/>
        </p:nvGraphicFramePr>
        <p:xfrm>
          <a:off x="217700" y="1044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{08E247CD-3601-404C-B5CC-A70B6CCB1DF1}</a:tableStyleId>
              </a:tblPr>
              <a:tblGrid>
                <a:gridCol w="2333625"/>
                <a:gridCol w="2333625"/>
              </a:tblGrid>
              <a:tr h="28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Density of blood (⍴)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1067 kg/m</a:t>
                      </a:r>
                      <a:r>
                        <a:rPr baseline="30000" lang="en" sz="900"/>
                        <a:t>3</a:t>
                      </a:r>
                      <a:endParaRPr baseline="30000" sz="900"/>
                    </a:p>
                  </a:txBody>
                  <a:tcPr marT="91425" marB="91425" marR="91425" marL="91425"/>
                </a:tc>
              </a:tr>
              <a:tr h="28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Dynamic viscosity of blood (μ)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0.0035 Pa.s</a:t>
                      </a:r>
                      <a:endParaRPr sz="9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8" name="Google Shape;98;p17"/>
          <p:cNvSpPr txBox="1"/>
          <p:nvPr/>
        </p:nvSpPr>
        <p:spPr>
          <a:xfrm>
            <a:off x="1642625" y="1710925"/>
            <a:ext cx="1719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Table 4: Properties of blood</a:t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99" name="Google Shape;99;p17"/>
          <p:cNvSpPr txBox="1"/>
          <p:nvPr/>
        </p:nvSpPr>
        <p:spPr>
          <a:xfrm>
            <a:off x="311700" y="2215975"/>
            <a:ext cx="4573200" cy="22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Reynold’s number (Re):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00" name="Google Shape;10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1850" y="2782300"/>
            <a:ext cx="1479475" cy="5727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1" name="Google Shape;101;p17"/>
          <p:cNvGraphicFramePr/>
          <p:nvPr/>
        </p:nvGraphicFramePr>
        <p:xfrm>
          <a:off x="294200" y="335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{08E247CD-3601-404C-B5CC-A70B6CCB1DF1}</a:tableStyleId>
              </a:tblPr>
              <a:tblGrid>
                <a:gridCol w="2304100"/>
                <a:gridCol w="2304100"/>
              </a:tblGrid>
              <a:tr h="274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Velocity (v) (m/s)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Reynold’s number (Re)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274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0.4 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244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327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0.8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488</a:t>
                      </a:r>
                      <a:endParaRPr sz="9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2" name="Google Shape;102;p17"/>
          <p:cNvSpPr txBox="1"/>
          <p:nvPr/>
        </p:nvSpPr>
        <p:spPr>
          <a:xfrm>
            <a:off x="1233750" y="4452975"/>
            <a:ext cx="27291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Table 5: Reynolds number at inlet 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5342800" y="3626500"/>
            <a:ext cx="3489600" cy="10629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Blood is modelled as a Newtonian fluid.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Reynold’s number is calculated at inlet for initial hypothesis of the flow regime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Computational</a:t>
            </a:r>
            <a:r>
              <a:rPr lang="en"/>
              <a:t> Results</a:t>
            </a:r>
            <a:endParaRPr/>
          </a:p>
        </p:txBody>
      </p:sp>
      <p:sp>
        <p:nvSpPr>
          <p:cNvPr id="109" name="Google Shape;10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0" name="Google Shape;11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3725" y="1500900"/>
            <a:ext cx="7219625" cy="327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8"/>
          <p:cNvSpPr txBox="1"/>
          <p:nvPr/>
        </p:nvSpPr>
        <p:spPr>
          <a:xfrm>
            <a:off x="632300" y="1067875"/>
            <a:ext cx="49140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Stopping criteria: Residuals of continuity equation tends to 4E-5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3368050" y="4781175"/>
            <a:ext cx="25194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Fig 4: Residuals for 0.4 m/s</a:t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Grid independent study</a:t>
            </a:r>
            <a:endParaRPr/>
          </a:p>
        </p:txBody>
      </p:sp>
      <p:sp>
        <p:nvSpPr>
          <p:cNvPr id="118" name="Google Shape;11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19" name="Google Shape;119;p19"/>
          <p:cNvGraphicFramePr/>
          <p:nvPr/>
        </p:nvGraphicFramePr>
        <p:xfrm>
          <a:off x="440775" y="1448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{08E247CD-3601-404C-B5CC-A70B6CCB1DF1}</a:tableStyleId>
              </a:tblPr>
              <a:tblGrid>
                <a:gridCol w="892975"/>
                <a:gridCol w="892975"/>
                <a:gridCol w="892975"/>
              </a:tblGrid>
              <a:tr h="417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Mesh parameters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Configuration for 0.4 m/s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Configuration for 0.8 m/s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299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Base size (m)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0.0009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0.0007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345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Number of prism layers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10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10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404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Volume Growth Rate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1.2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1.2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404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Number of cells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196286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288211</a:t>
                      </a:r>
                      <a:endParaRPr sz="9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20" name="Google Shape;120;p19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6025" y="116575"/>
            <a:ext cx="4513700" cy="240117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9"/>
          <p:cNvSpPr txBox="1"/>
          <p:nvPr/>
        </p:nvSpPr>
        <p:spPr>
          <a:xfrm>
            <a:off x="1082725" y="3685550"/>
            <a:ext cx="16596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Table 6: Mesh 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22" name="Google Shape;122;p19"/>
          <p:cNvSpPr txBox="1"/>
          <p:nvPr/>
        </p:nvSpPr>
        <p:spPr>
          <a:xfrm>
            <a:off x="5139425" y="2394625"/>
            <a:ext cx="23487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Fig 5: Wall shear stress vs number of cells</a:t>
            </a:r>
            <a:endParaRPr sz="900">
              <a:solidFill>
                <a:schemeClr val="dk2"/>
              </a:solidFill>
            </a:endParaRPr>
          </a:p>
        </p:txBody>
      </p:sp>
      <p:pic>
        <p:nvPicPr>
          <p:cNvPr id="123" name="Google Shape;123;p19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0251" y="2611225"/>
            <a:ext cx="4513700" cy="220122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9"/>
          <p:cNvSpPr txBox="1"/>
          <p:nvPr/>
        </p:nvSpPr>
        <p:spPr>
          <a:xfrm>
            <a:off x="4892750" y="4812450"/>
            <a:ext cx="25035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Fig 6 : Wall shear stress vs number of cells</a:t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Computational results - Wall shear stress</a:t>
            </a:r>
            <a:endParaRPr/>
          </a:p>
        </p:txBody>
      </p:sp>
      <p:sp>
        <p:nvSpPr>
          <p:cNvPr id="130" name="Google Shape;13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1" name="Google Shape;13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600" y="1429400"/>
            <a:ext cx="4456626" cy="2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0"/>
          <p:cNvSpPr txBox="1"/>
          <p:nvPr/>
        </p:nvSpPr>
        <p:spPr>
          <a:xfrm>
            <a:off x="1609825" y="4007025"/>
            <a:ext cx="24078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Fig 7: Wall shear stress for 0.4 m/s</a:t>
            </a:r>
            <a:endParaRPr sz="900">
              <a:solidFill>
                <a:schemeClr val="dk2"/>
              </a:solidFill>
            </a:endParaRPr>
          </a:p>
        </p:txBody>
      </p:sp>
      <p:pic>
        <p:nvPicPr>
          <p:cNvPr id="133" name="Google Shape;13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7050" y="1265450"/>
            <a:ext cx="4257825" cy="2192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0"/>
          <p:cNvSpPr txBox="1"/>
          <p:nvPr/>
        </p:nvSpPr>
        <p:spPr>
          <a:xfrm>
            <a:off x="6118450" y="4061000"/>
            <a:ext cx="2407800" cy="2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Fig 8: Wall shear stress for 0.8 m/s</a:t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0" name="Google Shape;14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Computational results - Streamlines</a:t>
            </a:r>
            <a:endParaRPr/>
          </a:p>
        </p:txBody>
      </p:sp>
      <p:pic>
        <p:nvPicPr>
          <p:cNvPr id="141" name="Google Shape;14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488400" cy="300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1"/>
          <p:cNvSpPr txBox="1"/>
          <p:nvPr/>
        </p:nvSpPr>
        <p:spPr>
          <a:xfrm>
            <a:off x="986550" y="4295675"/>
            <a:ext cx="2086200" cy="2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Fig 9: Streamlines for 0.4 m/s</a:t>
            </a:r>
            <a:endParaRPr sz="900">
              <a:solidFill>
                <a:schemeClr val="dk2"/>
              </a:solidFill>
            </a:endParaRPr>
          </a:p>
        </p:txBody>
      </p:sp>
      <p:pic>
        <p:nvPicPr>
          <p:cNvPr id="143" name="Google Shape;14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3200" y="1170125"/>
            <a:ext cx="4000449" cy="2909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1"/>
          <p:cNvSpPr txBox="1"/>
          <p:nvPr/>
        </p:nvSpPr>
        <p:spPr>
          <a:xfrm>
            <a:off x="6085625" y="4420525"/>
            <a:ext cx="2086200" cy="2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Fig 10: Streamlines for 0.8 m/s</a:t>
            </a:r>
            <a:endParaRPr sz="900">
              <a:solidFill>
                <a:schemeClr val="dk2"/>
              </a:solidFill>
            </a:endParaRPr>
          </a:p>
        </p:txBody>
      </p:sp>
      <p:pic>
        <p:nvPicPr>
          <p:cNvPr id="145" name="Google Shape;14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38925" y="956350"/>
            <a:ext cx="1583625" cy="94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67177" y="812025"/>
            <a:ext cx="1326475" cy="133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2" name="Google Shape;152;p22"/>
          <p:cNvSpPr txBox="1"/>
          <p:nvPr>
            <p:ph idx="4294967295" type="title"/>
          </p:nvPr>
        </p:nvSpPr>
        <p:spPr>
          <a:xfrm>
            <a:off x="237675" y="122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Computational results - 2d velocity profiles (vertical)</a:t>
            </a:r>
            <a:endParaRPr/>
          </a:p>
        </p:txBody>
      </p:sp>
      <p:sp>
        <p:nvSpPr>
          <p:cNvPr id="153" name="Google Shape;153;p22"/>
          <p:cNvSpPr txBox="1"/>
          <p:nvPr/>
        </p:nvSpPr>
        <p:spPr>
          <a:xfrm>
            <a:off x="3125300" y="2610038"/>
            <a:ext cx="21255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Fig 11: velocity profile - 0.4 m/s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54" name="Google Shape;154;p22"/>
          <p:cNvSpPr txBox="1"/>
          <p:nvPr/>
        </p:nvSpPr>
        <p:spPr>
          <a:xfrm>
            <a:off x="3280213" y="4886350"/>
            <a:ext cx="2125500" cy="2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Fig 12: velocity profile - 0.8 m/s</a:t>
            </a:r>
            <a:endParaRPr sz="900">
              <a:solidFill>
                <a:schemeClr val="dk2"/>
              </a:solidFill>
            </a:endParaRPr>
          </a:p>
        </p:txBody>
      </p:sp>
      <p:pic>
        <p:nvPicPr>
          <p:cNvPr id="155" name="Google Shape;15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4125" y="2938579"/>
            <a:ext cx="2125500" cy="2063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3177275"/>
            <a:ext cx="1763525" cy="190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05325" y="3063236"/>
            <a:ext cx="1763525" cy="1903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7675" y="803300"/>
            <a:ext cx="1740600" cy="176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69800" y="690113"/>
            <a:ext cx="2227025" cy="184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335250" y="775000"/>
            <a:ext cx="1876325" cy="173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23"/>
          <p:cNvSpPr txBox="1"/>
          <p:nvPr>
            <p:ph idx="4294967295" type="title"/>
          </p:nvPr>
        </p:nvSpPr>
        <p:spPr>
          <a:xfrm>
            <a:off x="193600" y="202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Computational results - 2d velocity profiles (horizontal)</a:t>
            </a:r>
            <a:endParaRPr/>
          </a:p>
        </p:txBody>
      </p:sp>
      <p:pic>
        <p:nvPicPr>
          <p:cNvPr id="167" name="Google Shape;16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900" y="2976200"/>
            <a:ext cx="2253563" cy="198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8375" y="2976187"/>
            <a:ext cx="2126750" cy="185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25100" y="3274525"/>
            <a:ext cx="2636625" cy="171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3"/>
          <p:cNvSpPr txBox="1"/>
          <p:nvPr/>
        </p:nvSpPr>
        <p:spPr>
          <a:xfrm>
            <a:off x="3400850" y="4840225"/>
            <a:ext cx="24045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Fig 14: velocity profiles for 0.8 m/s</a:t>
            </a:r>
            <a:endParaRPr sz="900">
              <a:solidFill>
                <a:schemeClr val="dk2"/>
              </a:solidFill>
            </a:endParaRPr>
          </a:p>
        </p:txBody>
      </p:sp>
      <p:pic>
        <p:nvPicPr>
          <p:cNvPr id="171" name="Google Shape;171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72075" y="1093800"/>
            <a:ext cx="1720600" cy="156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75225" y="989700"/>
            <a:ext cx="1756418" cy="165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9450" y="989700"/>
            <a:ext cx="1561450" cy="1772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3"/>
          <p:cNvSpPr txBox="1"/>
          <p:nvPr/>
        </p:nvSpPr>
        <p:spPr>
          <a:xfrm>
            <a:off x="3065300" y="2820675"/>
            <a:ext cx="24045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Fig 13: velocity profiles for 0.4 m/s</a:t>
            </a:r>
            <a:endParaRPr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4"/>
          <p:cNvSpPr txBox="1"/>
          <p:nvPr>
            <p:ph type="title"/>
          </p:nvPr>
        </p:nvSpPr>
        <p:spPr>
          <a:xfrm>
            <a:off x="311700" y="130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</a:t>
            </a:r>
            <a:endParaRPr/>
          </a:p>
        </p:txBody>
      </p:sp>
      <p:sp>
        <p:nvSpPr>
          <p:cNvPr id="180" name="Google Shape;18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1" name="Google Shape;181;p24"/>
          <p:cNvSpPr txBox="1"/>
          <p:nvPr/>
        </p:nvSpPr>
        <p:spPr>
          <a:xfrm>
            <a:off x="461725" y="851375"/>
            <a:ext cx="6888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182" name="Google Shape;182;p24"/>
          <p:cNvGraphicFramePr/>
          <p:nvPr/>
        </p:nvGraphicFramePr>
        <p:xfrm>
          <a:off x="637575" y="799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{08E247CD-3601-404C-B5CC-A70B6CCB1DF1}</a:tableStyleId>
              </a:tblPr>
              <a:tblGrid>
                <a:gridCol w="2413000"/>
                <a:gridCol w="2413000"/>
                <a:gridCol w="2413000"/>
              </a:tblGrid>
              <a:tr h="208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Velocity (m/s)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Min wall shear stress (Pa)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Max wall shear stress (Pa)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234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0.4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0.0343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359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0.8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0.0105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25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3" name="Google Shape;183;p24"/>
          <p:cNvSpPr txBox="1"/>
          <p:nvPr/>
        </p:nvSpPr>
        <p:spPr>
          <a:xfrm>
            <a:off x="737250" y="2425925"/>
            <a:ext cx="69150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Results are in close agreement with literature.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The geometry induces vorticity inside the bulge of the aneurysm.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Sharp variation in wall shear stress may cause rupture.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The configuration for flow velocity of 0.8 m/sec is more prone to rupture.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84" name="Google Shape;184;p24"/>
          <p:cNvSpPr txBox="1"/>
          <p:nvPr/>
        </p:nvSpPr>
        <p:spPr>
          <a:xfrm>
            <a:off x="2823525" y="1960125"/>
            <a:ext cx="28539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Table 7: Summary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scope</a:t>
            </a:r>
            <a:endParaRPr/>
          </a:p>
        </p:txBody>
      </p:sp>
      <p:sp>
        <p:nvSpPr>
          <p:cNvPr id="190" name="Google Shape;19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 sz="1350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Investigate rupture of aneurysm by modelling a flexible wall.</a:t>
            </a:r>
            <a:endParaRPr sz="1350">
              <a:solidFill>
                <a:srgbClr val="22222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22222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50"/>
              <a:buFont typeface="Roboto"/>
              <a:buChar char="❏"/>
            </a:pPr>
            <a:r>
              <a:rPr lang="en" sz="1350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Try modelling blood as a non-Newtonian fluid.</a:t>
            </a:r>
            <a:endParaRPr sz="1350">
              <a:solidFill>
                <a:srgbClr val="22222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22222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50"/>
              <a:buFont typeface="Roboto"/>
              <a:buChar char="❏"/>
            </a:pPr>
            <a:r>
              <a:rPr lang="en" sz="1350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Modelling using </a:t>
            </a:r>
            <a:r>
              <a:rPr lang="en" sz="1350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turbulence</a:t>
            </a:r>
            <a:r>
              <a:rPr lang="en" sz="1350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for higher velocities</a:t>
            </a:r>
            <a:endParaRPr sz="1350">
              <a:solidFill>
                <a:srgbClr val="22222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22222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50"/>
              <a:buFont typeface="Roboto"/>
              <a:buChar char="❏"/>
            </a:pPr>
            <a:r>
              <a:rPr lang="en" sz="1350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Provide velocity distribution at inlet rather than uniform distribution.</a:t>
            </a:r>
            <a:endParaRPr sz="1350">
              <a:solidFill>
                <a:srgbClr val="22222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22222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22222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22222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97" name="Google Shape;19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6705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30"/>
              <a:buAutoNum type="arabicPeriod"/>
            </a:pPr>
            <a:r>
              <a:rPr lang="en" sz="1230">
                <a:solidFill>
                  <a:schemeClr val="dk1"/>
                </a:solidFill>
              </a:rPr>
              <a:t>Rahma, Ahmed. (2023). Hemodynamic and fluid flow analysis of a cerebral aneurysm: a CFD simulation. SN Applied Sciences. 5. 62. 10.1007/s42452-023-05276-0. </a:t>
            </a:r>
            <a:endParaRPr sz="123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30">
              <a:solidFill>
                <a:schemeClr val="dk1"/>
              </a:solidFill>
            </a:endParaRPr>
          </a:p>
          <a:p>
            <a:pPr indent="-306705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30"/>
              <a:buAutoNum type="arabicPeriod"/>
            </a:pPr>
            <a:r>
              <a:rPr lang="en" sz="1230">
                <a:solidFill>
                  <a:schemeClr val="dk1"/>
                </a:solidFill>
              </a:rPr>
              <a:t>Paritala, Phani &amp; Anbananthan, Haveena &amp; Hautaniemi, Jacob &amp; Smith, Macauley &amp; George, Antony &amp; Allenby, Mark &amp; Benitez, Jessica &amp; Wang, Jiaqiu &amp; Maclachlan, Liam &amp; Liang, EeShern &amp; Prior, Marita &amp; Yarlagadda, Prasad &amp; Winter, Craig &amp; Li, Zhiyong. (2023). Reproducibility of the computational fluid dynamic analysis of a cerebral aneurysm monitored over a decade. Scientific Reports. 13. 10.1038/s41598-022-27354-w. </a:t>
            </a:r>
            <a:endParaRPr sz="123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30">
              <a:solidFill>
                <a:schemeClr val="dk1"/>
              </a:solidFill>
            </a:endParaRPr>
          </a:p>
          <a:p>
            <a:pPr indent="-306705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30"/>
              <a:buAutoNum type="arabicPeriod"/>
            </a:pPr>
            <a:r>
              <a:rPr lang="en" sz="1230">
                <a:solidFill>
                  <a:schemeClr val="dk1"/>
                </a:solidFill>
              </a:rPr>
              <a:t>Wu, X., Gürzing, S., Schinkel, C., Toussaint, M., Perinajová, R., van Ooij, P., &amp; Kenjereš, S. (2021). Hemodynamic Study of a Patient-Specific Intracranial Aneurysm: Comparative Assessment of Tomographic PIV, Stereoscopic PIV, In Vivo MRI and Computational Fluid Dynamics. Cardiovascular Engineering and Technology, 13(3), 428-442. https://doi.org/10.1007/s13239-021-00583-2</a:t>
            </a:r>
            <a:endParaRPr sz="1230">
              <a:solidFill>
                <a:schemeClr val="dk1"/>
              </a:solidFill>
            </a:endParaRPr>
          </a:p>
        </p:txBody>
      </p:sp>
      <p:sp>
        <p:nvSpPr>
          <p:cNvPr id="198" name="Google Shape;19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27"/>
          <p:cNvSpPr/>
          <p:nvPr/>
        </p:nvSpPr>
        <p:spPr>
          <a:xfrm>
            <a:off x="691426" y="1962150"/>
            <a:ext cx="7760572" cy="121997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chemeClr val="lt2"/>
                </a:solidFill>
                <a:latin typeface="Arial"/>
              </a:rPr>
              <a:t>Thank You</a:t>
            </a: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